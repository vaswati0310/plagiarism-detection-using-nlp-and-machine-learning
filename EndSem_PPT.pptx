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3640" r:id="rId2"/>
    <p:sldId id="3694" r:id="rId3"/>
    <p:sldId id="3697" r:id="rId4"/>
    <p:sldId id="3700" r:id="rId5"/>
    <p:sldId id="3723" r:id="rId6"/>
    <p:sldId id="3701" r:id="rId7"/>
    <p:sldId id="3708" r:id="rId8"/>
    <p:sldId id="3735" r:id="rId9"/>
    <p:sldId id="3737" r:id="rId10"/>
    <p:sldId id="3738" r:id="rId11"/>
    <p:sldId id="3740" r:id="rId12"/>
    <p:sldId id="3739" r:id="rId13"/>
    <p:sldId id="3704" r:id="rId14"/>
    <p:sldId id="3736" r:id="rId15"/>
    <p:sldId id="3706" r:id="rId16"/>
    <p:sldId id="3733" r:id="rId17"/>
    <p:sldId id="364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keshi Parnami" initials="SP" lastIdx="1" clrIdx="0">
    <p:extLst>
      <p:ext uri="{19B8F6BF-5375-455C-9EA6-DF929625EA0E}">
        <p15:presenceInfo xmlns:p15="http://schemas.microsoft.com/office/powerpoint/2012/main" userId="S::sparnami@upes.ac.in::61686955-4e93-4ddb-a545-ba82f91d1f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36FF"/>
    <a:srgbClr val="4AAEFC"/>
    <a:srgbClr val="434ACF"/>
    <a:srgbClr val="BF2CFE"/>
    <a:srgbClr val="46B0FA"/>
    <a:srgbClr val="27D4F8"/>
    <a:srgbClr val="D9FF00"/>
    <a:srgbClr val="E0E600"/>
    <a:srgbClr val="0B2F3E"/>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97" autoAdjust="0"/>
    <p:restoredTop sz="96327"/>
  </p:normalViewPr>
  <p:slideViewPr>
    <p:cSldViewPr snapToGrid="0" snapToObjects="1">
      <p:cViewPr varScale="1">
        <p:scale>
          <a:sx n="110" d="100"/>
          <a:sy n="110" d="100"/>
        </p:scale>
        <p:origin x="354" y="96"/>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9D15D-1C13-CC45-BE09-4D54E9A973B4}" type="datetimeFigureOut">
              <a:rPr lang="en-US" smtClean="0"/>
              <a:t>5/1/2025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A8CF-95A7-924D-878B-183116A25DFA}" type="slidenum">
              <a:rPr lang="en-US" smtClean="0"/>
              <a:t>‹#›</a:t>
            </a:fld>
            <a:endParaRPr lang="en-US" dirty="0"/>
          </a:p>
        </p:txBody>
      </p:sp>
    </p:spTree>
    <p:extLst>
      <p:ext uri="{BB962C8B-B14F-4D97-AF65-F5344CB8AC3E}">
        <p14:creationId xmlns:p14="http://schemas.microsoft.com/office/powerpoint/2010/main" val="392396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FD3D9895-3AFC-9E49-BB6B-D5AF81433D95}" type="datetimeFigureOut">
              <a:rPr lang="en-US" smtClean="0"/>
              <a:t>5/1/2025</a:t>
            </a:fld>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77771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24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1703F520-AAB7-4D20-958E-A456239933B0}" type="datetimeFigureOut">
              <a:rPr lang="en-US" smtClean="0"/>
              <a:t>5/1/2025</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D3316BF-8A16-4F24-9F8F-9D40354D5A5C}" type="slidenum">
              <a:rPr lang="en-US" smtClean="0"/>
              <a:t>‹#›</a:t>
            </a:fld>
            <a:endParaRPr lang="en-US" dirty="0"/>
          </a:p>
        </p:txBody>
      </p:sp>
    </p:spTree>
    <p:extLst>
      <p:ext uri="{BB962C8B-B14F-4D97-AF65-F5344CB8AC3E}">
        <p14:creationId xmlns:p14="http://schemas.microsoft.com/office/powerpoint/2010/main" val="2737340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5"/>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3846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ipywidgets.readthedocs.io/en/stable/" TargetMode="External"/><Relationship Id="rId3" Type="http://schemas.openxmlformats.org/officeDocument/2006/relationships/hyperlink" Target="https://arxiv.org/abs/1301.3781" TargetMode="External"/><Relationship Id="rId7" Type="http://schemas.openxmlformats.org/officeDocument/2006/relationships/hyperlink" Target="https://doi.org/10.1038/s41586-020-2649-2" TargetMode="External"/><Relationship Id="rId2" Type="http://schemas.openxmlformats.org/officeDocument/2006/relationships/hyperlink" Target="https://radimrehurek.com/gensim/" TargetMode="External"/><Relationship Id="rId1" Type="http://schemas.openxmlformats.org/officeDocument/2006/relationships/slideLayout" Target="../slideLayouts/slideLayout2.xml"/><Relationship Id="rId6" Type="http://schemas.openxmlformats.org/officeDocument/2006/relationships/hyperlink" Target="https://arxiv.org/abs/1912.01703" TargetMode="External"/><Relationship Id="rId5" Type="http://schemas.openxmlformats.org/officeDocument/2006/relationships/hyperlink" Target="https://www.aclweb.org/anthology/2020.emnlp-main.5/" TargetMode="External"/><Relationship Id="rId4" Type="http://schemas.openxmlformats.org/officeDocument/2006/relationships/hyperlink" Target="https://arxiv.org/abs/1910.01108"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8895C2-828B-934B-8B58-BBC23AD3665A}"/>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4829" y="126108"/>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3"/>
          <a:stretch>
            <a:fillRect/>
          </a:stretch>
        </p:blipFill>
        <p:spPr>
          <a:xfrm>
            <a:off x="7615711" y="143688"/>
            <a:ext cx="4433534" cy="1431888"/>
          </a:xfrm>
          <a:prstGeom prst="rect">
            <a:avLst/>
          </a:prstGeom>
        </p:spPr>
      </p:pic>
      <p:sp>
        <p:nvSpPr>
          <p:cNvPr id="2" name="TextBox 1"/>
          <p:cNvSpPr txBox="1"/>
          <p:nvPr/>
        </p:nvSpPr>
        <p:spPr>
          <a:xfrm>
            <a:off x="3540035" y="1575576"/>
            <a:ext cx="6701245" cy="923330"/>
          </a:xfrm>
          <a:prstGeom prst="rect">
            <a:avLst/>
          </a:prstGeom>
          <a:noFill/>
        </p:spPr>
        <p:txBody>
          <a:bodyPr wrap="square" rtlCol="0">
            <a:spAutoFit/>
          </a:bodyPr>
          <a:lstStyle/>
          <a:p>
            <a:r>
              <a:rPr lang="en-IN" sz="5400" dirty="0">
                <a:latin typeface="Times New Roman" panose="02020603050405020304" pitchFamily="18" charset="0"/>
                <a:cs typeface="Times New Roman" panose="02020603050405020304" pitchFamily="18" charset="0"/>
              </a:rPr>
              <a:t>Minor Project</a:t>
            </a:r>
          </a:p>
        </p:txBody>
      </p:sp>
      <p:sp>
        <p:nvSpPr>
          <p:cNvPr id="4" name="TextBox 3"/>
          <p:cNvSpPr txBox="1"/>
          <p:nvPr/>
        </p:nvSpPr>
        <p:spPr>
          <a:xfrm>
            <a:off x="485260" y="2689161"/>
            <a:ext cx="9948555" cy="1569660"/>
          </a:xfrm>
          <a:prstGeom prst="rect">
            <a:avLst/>
          </a:prstGeom>
          <a:noFill/>
        </p:spPr>
        <p:txBody>
          <a:bodyPr wrap="square" rtlCol="0">
            <a:spAutoFit/>
          </a:bodyPr>
          <a:lstStyle/>
          <a:p>
            <a:pPr algn="ctr"/>
            <a:r>
              <a:rPr lang="en-IN" sz="3200" dirty="0">
                <a:latin typeface="Times New Roman" panose="02020603050405020304" pitchFamily="18" charset="0"/>
                <a:cs typeface="Times New Roman" panose="02020603050405020304" pitchFamily="18" charset="0"/>
              </a:rPr>
              <a:t>Title: Plagiarism Detection</a:t>
            </a:r>
          </a:p>
          <a:p>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2F12844-7D7B-9449-9B33-46EA047F7017}"/>
              </a:ext>
            </a:extLst>
          </p:cNvPr>
          <p:cNvSpPr txBox="1"/>
          <p:nvPr/>
        </p:nvSpPr>
        <p:spPr>
          <a:xfrm>
            <a:off x="304829" y="5145530"/>
            <a:ext cx="6097656" cy="1754326"/>
          </a:xfrm>
          <a:prstGeom prst="rect">
            <a:avLst/>
          </a:prstGeom>
          <a:noFill/>
        </p:spPr>
        <p:txBody>
          <a:bodyPr wrap="square">
            <a:spAutoFit/>
          </a:bodyPr>
          <a:lstStyle/>
          <a:p>
            <a:pPr rtl="0">
              <a:spcBef>
                <a:spcPts val="0"/>
              </a:spcBef>
              <a:spcAft>
                <a:spcPts val="0"/>
              </a:spcAft>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Presented by:</a:t>
            </a:r>
          </a:p>
          <a:p>
            <a:pPr rtl="0">
              <a:spcBef>
                <a:spcPts val="0"/>
              </a:spcBef>
              <a:spcAft>
                <a:spcPts val="0"/>
              </a:spcAft>
            </a:pPr>
            <a:r>
              <a:rPr lang="en-IN" dirty="0">
                <a:solidFill>
                  <a:srgbClr val="000000"/>
                </a:solidFill>
                <a:latin typeface="Times New Roman" panose="02020603050405020304" pitchFamily="18" charset="0"/>
                <a:cs typeface="Times New Roman" panose="02020603050405020304" pitchFamily="18" charset="0"/>
              </a:rPr>
              <a:t>Vaswati Gogoi (500110490)</a:t>
            </a:r>
          </a:p>
          <a:p>
            <a:pPr rtl="0">
              <a:spcBef>
                <a:spcPts val="0"/>
              </a:spcBef>
              <a:spcAft>
                <a:spcPts val="0"/>
              </a:spcAft>
            </a:pPr>
            <a:r>
              <a:rPr lang="en-IN" dirty="0">
                <a:solidFill>
                  <a:srgbClr val="000000"/>
                </a:solidFill>
                <a:latin typeface="Times New Roman" panose="02020603050405020304" pitchFamily="18" charset="0"/>
                <a:cs typeface="Times New Roman" panose="02020603050405020304" pitchFamily="18" charset="0"/>
              </a:rPr>
              <a:t>Sagnik Roy (500109927)</a:t>
            </a:r>
            <a:endParaRPr lang="en-IN" dirty="0">
              <a:effectLst/>
              <a:latin typeface="Times New Roman" panose="02020603050405020304" pitchFamily="18" charset="0"/>
              <a:cs typeface="Times New Roman" panose="02020603050405020304" pitchFamily="18" charset="0"/>
            </a:endParaRPr>
          </a:p>
          <a:p>
            <a:endParaRPr lang="en-IN" dirty="0">
              <a:solidFill>
                <a:srgbClr val="000000"/>
              </a:solidFill>
              <a:latin typeface="Times New Roman" panose="02020603050405020304" pitchFamily="18" charset="0"/>
              <a:cs typeface="Times New Roman" panose="02020603050405020304" pitchFamily="18" charset="0"/>
            </a:endParaRPr>
          </a:p>
          <a:p>
            <a:br>
              <a:rPr lang="en-I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581529D-3593-AE4E-9F50-CD8F5082B00A}"/>
              </a:ext>
            </a:extLst>
          </p:cNvPr>
          <p:cNvSpPr txBox="1"/>
          <p:nvPr/>
        </p:nvSpPr>
        <p:spPr>
          <a:xfrm>
            <a:off x="9188364" y="5100077"/>
            <a:ext cx="5721762" cy="646331"/>
          </a:xfrm>
          <a:prstGeom prst="rect">
            <a:avLst/>
          </a:prstGeom>
          <a:noFill/>
        </p:spPr>
        <p:txBody>
          <a:bodyPr wrap="square">
            <a:spAutoFit/>
          </a:bodyPr>
          <a:lstStyle/>
          <a:p>
            <a:pPr rtl="0">
              <a:spcBef>
                <a:spcPts val="0"/>
              </a:spcBef>
              <a:spcAft>
                <a:spcPts val="0"/>
              </a:spcAft>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Guided by: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Dr. Surbhi Saraswat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5004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Times New Roman" panose="02020603050405020304" pitchFamily="18" charset="0"/>
                <a:cs typeface="Times New Roman" panose="02020603050405020304" pitchFamily="18" charset="0"/>
              </a:rPr>
              <a:t>Content</a:t>
            </a:r>
            <a:endParaRPr lang="en-IN" sz="3200" b="1" dirty="0">
              <a:solidFill>
                <a:srgbClr val="46B0FA"/>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535090" y="899749"/>
            <a:ext cx="4650377" cy="4985980"/>
          </a:xfrm>
          <a:prstGeom prst="rect">
            <a:avLst/>
          </a:prstGeom>
          <a:noFill/>
        </p:spPr>
        <p:txBody>
          <a:bodyPr wrap="square" rtlCol="0">
            <a:spAutoFit/>
          </a:bodyPr>
          <a:lstStyle/>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Abstract</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Introduction</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Literature Review </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Problem Statement</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Objective</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Methodology</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Results</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UML Diagram</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PERT Chart</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SWOT Analysis</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Conclusion</a:t>
            </a:r>
          </a:p>
          <a:p>
            <a:pPr>
              <a:lnSpc>
                <a:spcPct val="150000"/>
              </a:lnSpc>
            </a:pPr>
            <a:r>
              <a:rPr lang="en-US" sz="1600" dirty="0">
                <a:latin typeface="Times New Roman" panose="02020603050405020304" pitchFamily="18" charset="0"/>
                <a:cs typeface="Times New Roman" panose="02020603050405020304" pitchFamily="18" charset="0"/>
              </a:rPr>
              <a:t>12.  References</a:t>
            </a:r>
          </a:p>
          <a:p>
            <a:pPr marL="457200" indent="-457200">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729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314620"/>
            <a:ext cx="7530363"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1. Abstract</a:t>
            </a:r>
          </a:p>
          <a:p>
            <a:endParaRPr lang="en-IN" sz="3200" b="1" dirty="0">
              <a:solidFill>
                <a:srgbClr val="46B0FA"/>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B8F8D89-FB8C-F187-CD31-63AA0F6A3ECF}"/>
              </a:ext>
            </a:extLst>
          </p:cNvPr>
          <p:cNvSpPr txBox="1"/>
          <p:nvPr/>
        </p:nvSpPr>
        <p:spPr>
          <a:xfrm>
            <a:off x="457200" y="1280119"/>
            <a:ext cx="11328400" cy="1754326"/>
          </a:xfrm>
          <a:prstGeom prst="rect">
            <a:avLst/>
          </a:prstGeom>
          <a:noFill/>
        </p:spPr>
        <p:txBody>
          <a:bodyPr wrap="square" rtlCol="0">
            <a:spAutoFit/>
          </a:bodyPr>
          <a:lstStyle/>
          <a:p>
            <a:pPr algn="just"/>
            <a:r>
              <a:rPr lang="en-US" dirty="0"/>
              <a:t>Academia alongside content creation relies on plagiarism detection as a core activity to protect originality along with maintaining integrity. This study investigates the implementation of different plagiarism detection methods which merge string matching algorithms with NLP techniques and machine learning-based approaches along with big data tools. The proposed system seeks to establish an efficient plagiarism detection solution which detects document overlaps while marking down existing content. The paper evaluates present methods and establishes an enhanced approach before completing effectiveness tests.</a:t>
            </a:r>
            <a:endParaRPr lang="en-IN" dirty="0"/>
          </a:p>
        </p:txBody>
      </p:sp>
    </p:spTree>
    <p:extLst>
      <p:ext uri="{BB962C8B-B14F-4D97-AF65-F5344CB8AC3E}">
        <p14:creationId xmlns:p14="http://schemas.microsoft.com/office/powerpoint/2010/main" val="480493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57638" y="343540"/>
            <a:ext cx="2810028"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2. Introduction</a:t>
            </a:r>
          </a:p>
          <a:p>
            <a:endParaRPr lang="en-US" sz="3200" b="1" dirty="0">
              <a:solidFill>
                <a:srgbClr val="46B0FA"/>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D33A61B-EE49-2782-EFCC-2EA8FBDBE9A4}"/>
              </a:ext>
            </a:extLst>
          </p:cNvPr>
          <p:cNvSpPr txBox="1"/>
          <p:nvPr/>
        </p:nvSpPr>
        <p:spPr>
          <a:xfrm>
            <a:off x="457200" y="1280119"/>
            <a:ext cx="11328400" cy="1477328"/>
          </a:xfrm>
          <a:prstGeom prst="rect">
            <a:avLst/>
          </a:prstGeom>
          <a:noFill/>
        </p:spPr>
        <p:txBody>
          <a:bodyPr wrap="square" rtlCol="0">
            <a:spAutoFit/>
          </a:bodyPr>
          <a:lstStyle/>
          <a:p>
            <a:pPr algn="just"/>
            <a:r>
              <a:rPr lang="en-US" b="0" i="0" dirty="0">
                <a:solidFill>
                  <a:srgbClr val="000000"/>
                </a:solidFill>
                <a:effectLst/>
                <a:latin typeface="__GeistSans_3a0388"/>
              </a:rPr>
              <a:t>The extensive online content availability has made plagiarism which involves stealing intellectual work without citations into a major issue. The extensive amount of data makes manual examination methods ineffective for data verification purposes. Plagiarism detection systems based on automation employ different analysis methods that let them compare content documents while searching for instances of duplicate material. The system development project focuses on creating an efficient approach to detect plagiarized content through advanced computational methodologies.</a:t>
            </a:r>
            <a:endParaRPr lang="en-IN" dirty="0"/>
          </a:p>
        </p:txBody>
      </p:sp>
      <p:pic>
        <p:nvPicPr>
          <p:cNvPr id="5" name="Picture 4">
            <a:extLst>
              <a:ext uri="{FF2B5EF4-FFF2-40B4-BE49-F238E27FC236}">
                <a16:creationId xmlns:a16="http://schemas.microsoft.com/office/drawing/2014/main" id="{C94BA648-FF92-8680-05D1-C121A44E8FAC}"/>
              </a:ext>
            </a:extLst>
          </p:cNvPr>
          <p:cNvPicPr>
            <a:picLocks noChangeAspect="1"/>
          </p:cNvPicPr>
          <p:nvPr/>
        </p:nvPicPr>
        <p:blipFill>
          <a:blip r:embed="rId2"/>
          <a:stretch>
            <a:fillRect/>
          </a:stretch>
        </p:blipFill>
        <p:spPr>
          <a:xfrm>
            <a:off x="3509555" y="2757447"/>
            <a:ext cx="4937760" cy="3703320"/>
          </a:xfrm>
          <a:prstGeom prst="rect">
            <a:avLst/>
          </a:prstGeom>
        </p:spPr>
      </p:pic>
      <p:grpSp>
        <p:nvGrpSpPr>
          <p:cNvPr id="6" name="Group 5">
            <a:extLst>
              <a:ext uri="{FF2B5EF4-FFF2-40B4-BE49-F238E27FC236}">
                <a16:creationId xmlns:a16="http://schemas.microsoft.com/office/drawing/2014/main" id="{2652A1F9-1A76-36FA-CAE4-990F923E1C68}"/>
              </a:ext>
            </a:extLst>
          </p:cNvPr>
          <p:cNvGrpSpPr/>
          <p:nvPr/>
        </p:nvGrpSpPr>
        <p:grpSpPr>
          <a:xfrm>
            <a:off x="5017068" y="5906956"/>
            <a:ext cx="2387082" cy="304708"/>
            <a:chOff x="4753945" y="6412053"/>
            <a:chExt cx="2387082" cy="304708"/>
          </a:xfrm>
        </p:grpSpPr>
        <p:sp>
          <p:nvSpPr>
            <p:cNvPr id="7" name="TextBox 6">
              <a:extLst>
                <a:ext uri="{FF2B5EF4-FFF2-40B4-BE49-F238E27FC236}">
                  <a16:creationId xmlns:a16="http://schemas.microsoft.com/office/drawing/2014/main" id="{536033A4-E574-725E-0202-28EC025732F9}"/>
                </a:ext>
              </a:extLst>
            </p:cNvPr>
            <p:cNvSpPr txBox="1"/>
            <p:nvPr/>
          </p:nvSpPr>
          <p:spPr>
            <a:xfrm>
              <a:off x="4885507" y="6455151"/>
              <a:ext cx="2255520" cy="261610"/>
            </a:xfrm>
            <a:prstGeom prst="rect">
              <a:avLst/>
            </a:prstGeom>
            <a:noFill/>
          </p:spPr>
          <p:txBody>
            <a:bodyPr wrap="square" rtlCol="0">
              <a:spAutoFit/>
            </a:bodyPr>
            <a:lstStyle/>
            <a:p>
              <a:r>
                <a:rPr lang="en-US" sz="1050" dirty="0"/>
                <a:t>BLOCK DIAGRAM</a:t>
              </a:r>
              <a:endParaRPr lang="en-IN" sz="1050" dirty="0"/>
            </a:p>
          </p:txBody>
        </p:sp>
        <p:pic>
          <p:nvPicPr>
            <p:cNvPr id="8" name="Graphic 7" descr="Arrow: Clockwise curve with solid fill">
              <a:extLst>
                <a:ext uri="{FF2B5EF4-FFF2-40B4-BE49-F238E27FC236}">
                  <a16:creationId xmlns:a16="http://schemas.microsoft.com/office/drawing/2014/main" id="{1F69792E-702E-0FC1-BD32-39D8CE3E67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53945" y="6412053"/>
              <a:ext cx="263123" cy="263123"/>
            </a:xfrm>
            <a:prstGeom prst="rect">
              <a:avLst/>
            </a:prstGeom>
          </p:spPr>
        </p:pic>
      </p:grpSp>
    </p:spTree>
    <p:extLst>
      <p:ext uri="{BB962C8B-B14F-4D97-AF65-F5344CB8AC3E}">
        <p14:creationId xmlns:p14="http://schemas.microsoft.com/office/powerpoint/2010/main" val="2507963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79141" y="201140"/>
            <a:ext cx="9177454" cy="156966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3.Literature Review</a:t>
            </a:r>
          </a:p>
          <a:p>
            <a:pPr marL="457200" indent="-457200">
              <a:buFont typeface="+mj-lt"/>
              <a:buAutoNum type="arabicPeriod"/>
            </a:pPr>
            <a:endParaRPr lang="en-US" sz="3200" dirty="0">
              <a:latin typeface="Times New Roman" panose="02020603050405020304" pitchFamily="18" charset="0"/>
              <a:cs typeface="Times New Roman" panose="02020603050405020304" pitchFamily="18" charset="0"/>
            </a:endParaRPr>
          </a:p>
          <a:p>
            <a:endParaRPr lang="en-IN" sz="3200" b="1" dirty="0">
              <a:solidFill>
                <a:srgbClr val="46B0FA"/>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FF928C9-01E9-A927-05E5-7E7E901F8BBA}"/>
              </a:ext>
            </a:extLst>
          </p:cNvPr>
          <p:cNvSpPr txBox="1"/>
          <p:nvPr/>
        </p:nvSpPr>
        <p:spPr>
          <a:xfrm>
            <a:off x="379141" y="894297"/>
            <a:ext cx="11328400" cy="6105133"/>
          </a:xfrm>
          <a:prstGeom prst="rect">
            <a:avLst/>
          </a:prstGeom>
          <a:noFill/>
        </p:spPr>
        <p:txBody>
          <a:bodyPr wrap="square" rtlCol="0">
            <a:spAutoFit/>
          </a:bodyPr>
          <a:lstStyle/>
          <a:p>
            <a:pPr marL="342900" indent="-342900" algn="just">
              <a:buAutoNum type="arabicPeriod"/>
            </a:pPr>
            <a:r>
              <a:rPr lang="en-US" dirty="0"/>
              <a:t>Utilization of NLP Techniques in Plagiarism Detection System through Semantic Analysis using Word2Vec and BERT</a:t>
            </a:r>
          </a:p>
          <a:p>
            <a:pPr algn="just"/>
            <a:r>
              <a:rPr lang="en-IN" sz="1000" b="0" i="1" dirty="0">
                <a:solidFill>
                  <a:srgbClr val="222222"/>
                </a:solidFill>
                <a:effectLst/>
                <a:latin typeface="Arial" panose="020B0604020202020204" pitchFamily="34" charset="0"/>
              </a:rPr>
              <a:t>Latina, Jeffrey V., et al. "Utilization of NLP Techniques in Plagiarism Detection System through Semantic Analysis using Word2Vec and BERT." 2024 International Conference on Expert Clouds and Applications (ICOECA). IEEE, 2024.</a:t>
            </a:r>
            <a:endParaRPr lang="en-US" sz="1000" i="1" dirty="0"/>
          </a:p>
          <a:p>
            <a:pPr algn="just"/>
            <a:r>
              <a:rPr lang="en-US" sz="1400" dirty="0"/>
              <a:t>Key Takeaway:</a:t>
            </a:r>
            <a:endParaRPr lang="en-IN" sz="1400" dirty="0">
              <a:effectLst/>
            </a:endParaRPr>
          </a:p>
          <a:p>
            <a:pPr marL="628650" lvl="1" indent="-171450">
              <a:lnSpc>
                <a:spcPct val="115000"/>
              </a:lnSpc>
              <a:spcAft>
                <a:spcPts val="800"/>
              </a:spcAft>
              <a:buSzPts val="1000"/>
              <a:buFont typeface="Arial" panose="020B0604020202020204" pitchFamily="34" charset="0"/>
              <a:buChar char="•"/>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Focuses on detecting paraphrased and translated texts, which are challenging for traditional plagiarism detection tools.</a:t>
            </a:r>
          </a:p>
          <a:p>
            <a:pPr marL="628650" lvl="1" indent="-171450">
              <a:lnSpc>
                <a:spcPct val="115000"/>
              </a:lnSpc>
              <a:spcAft>
                <a:spcPts val="800"/>
              </a:spcAft>
              <a:buSzPts val="1000"/>
              <a:buFont typeface="Arial" panose="020B0604020202020204" pitchFamily="34" charset="0"/>
              <a:buChar char="•"/>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Uses a hybrid model that combines multiple NLP techniques for improved accuracy.</a:t>
            </a:r>
          </a:p>
          <a:p>
            <a:pPr algn="just"/>
            <a:r>
              <a:rPr lang="en-US" dirty="0"/>
              <a:t>2. Automated Plagiarism Detection in Moodle</a:t>
            </a:r>
          </a:p>
          <a:p>
            <a:pPr algn="just"/>
            <a:r>
              <a:rPr lang="en-IN" sz="1000" i="1" dirty="0">
                <a:solidFill>
                  <a:srgbClr val="222222"/>
                </a:solidFill>
                <a:latin typeface="Arial" panose="020B0604020202020204" pitchFamily="34" charset="0"/>
              </a:rPr>
              <a:t>Kodali, Ravi Kishore, Tanvi Shekhar, and Lakshmi Boppana. "Automated Plagiarism Detection in Moodle." TENCON 2023-2023 IEEE Region 10 Conference (TENCON). IEEE, 2023.</a:t>
            </a:r>
            <a:endParaRPr lang="en-US" sz="1000" i="1" dirty="0">
              <a:solidFill>
                <a:srgbClr val="222222"/>
              </a:solidFill>
              <a:latin typeface="Arial" panose="020B0604020202020204" pitchFamily="34" charset="0"/>
            </a:endParaRPr>
          </a:p>
          <a:p>
            <a:pPr algn="just"/>
            <a:r>
              <a:rPr lang="en-US" sz="1400" dirty="0"/>
              <a:t>Key Takeaway:</a:t>
            </a:r>
            <a:endParaRPr lang="en-IN" sz="1400" dirty="0">
              <a:effectLst/>
            </a:endParaRPr>
          </a:p>
          <a:p>
            <a:pPr marL="628650" lvl="1" indent="-171450">
              <a:lnSpc>
                <a:spcPct val="115000"/>
              </a:lnSpc>
              <a:spcAft>
                <a:spcPts val="800"/>
              </a:spcAft>
              <a:buSzPts val="1000"/>
              <a:buFont typeface="Arial" panose="020B0604020202020204" pitchFamily="34" charset="0"/>
              <a:buChar char="•"/>
              <a:tabLst>
                <a:tab pos="914400" algn="l"/>
              </a:tabLst>
            </a:pPr>
            <a:r>
              <a:rPr lang="en-IN" sz="1200" kern="100" dirty="0">
                <a:latin typeface="Calibri" panose="020F0502020204030204" pitchFamily="34" charset="0"/>
                <a:ea typeface="Calibri" panose="020F0502020204030204" pitchFamily="34" charset="0"/>
                <a:cs typeface="Times New Roman" panose="02020603050405020304" pitchFamily="18" charset="0"/>
              </a:rPr>
              <a:t>Focuses on detecting plagiarism in handwritten text using OCR</a:t>
            </a:r>
          </a:p>
          <a:p>
            <a:pPr marL="628650" lvl="1" indent="-171450">
              <a:lnSpc>
                <a:spcPct val="115000"/>
              </a:lnSpc>
              <a:spcAft>
                <a:spcPts val="800"/>
              </a:spcAft>
              <a:buSzPts val="1000"/>
              <a:buFont typeface="Arial" panose="020B0604020202020204" pitchFamily="34" charset="0"/>
              <a:buChar char="•"/>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Integration with Moodle and Turnitin for automated plagiarism detection.</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algn="just"/>
            <a:r>
              <a:rPr lang="en-US" dirty="0"/>
              <a:t>3. String Matching based Plagiarism Detection for Document in Bahasa Indonesia</a:t>
            </a:r>
          </a:p>
          <a:p>
            <a:pPr algn="just"/>
            <a:r>
              <a:rPr lang="en-IN" sz="1000" i="1" dirty="0" err="1">
                <a:solidFill>
                  <a:srgbClr val="222222"/>
                </a:solidFill>
                <a:latin typeface="Arial" panose="020B0604020202020204" pitchFamily="34" charset="0"/>
              </a:rPr>
              <a:t>Parwita</a:t>
            </a:r>
            <a:r>
              <a:rPr lang="en-IN" sz="1000" i="1" dirty="0">
                <a:solidFill>
                  <a:srgbClr val="222222"/>
                </a:solidFill>
                <a:latin typeface="Arial" panose="020B0604020202020204" pitchFamily="34" charset="0"/>
              </a:rPr>
              <a:t>, Wayan Gede Suka, I. Gusti Ayu Agung </a:t>
            </a:r>
            <a:r>
              <a:rPr lang="en-IN" sz="1000" i="1" dirty="0" err="1">
                <a:solidFill>
                  <a:srgbClr val="222222"/>
                </a:solidFill>
                <a:latin typeface="Arial" panose="020B0604020202020204" pitchFamily="34" charset="0"/>
              </a:rPr>
              <a:t>Diatri</a:t>
            </a:r>
            <a:r>
              <a:rPr lang="en-IN" sz="1000" i="1" dirty="0">
                <a:solidFill>
                  <a:srgbClr val="222222"/>
                </a:solidFill>
                <a:latin typeface="Arial" panose="020B0604020202020204" pitchFamily="34" charset="0"/>
              </a:rPr>
              <a:t> </a:t>
            </a:r>
            <a:r>
              <a:rPr lang="en-IN" sz="1000" i="1" dirty="0" err="1">
                <a:solidFill>
                  <a:srgbClr val="222222"/>
                </a:solidFill>
                <a:latin typeface="Arial" panose="020B0604020202020204" pitchFamily="34" charset="0"/>
              </a:rPr>
              <a:t>Indradewi</a:t>
            </a:r>
            <a:r>
              <a:rPr lang="en-IN" sz="1000" i="1" dirty="0">
                <a:solidFill>
                  <a:srgbClr val="222222"/>
                </a:solidFill>
                <a:latin typeface="Arial" panose="020B0604020202020204" pitchFamily="34" charset="0"/>
              </a:rPr>
              <a:t>, and I. Nyoman Saputra Wahyu Wijaya. "String matching based plagiarism detection for document in Bahasa Indonesia." 2019 5th International Conference on New Media Studies (CONMEDIA). IEEE, 2019.</a:t>
            </a:r>
            <a:endParaRPr lang="en-US" sz="1000" i="1" dirty="0">
              <a:solidFill>
                <a:srgbClr val="222222"/>
              </a:solidFill>
              <a:latin typeface="Arial" panose="020B0604020202020204" pitchFamily="34" charset="0"/>
            </a:endParaRPr>
          </a:p>
          <a:p>
            <a:pPr algn="just"/>
            <a:r>
              <a:rPr lang="en-US" sz="1400" dirty="0"/>
              <a:t>Key Takeaway:</a:t>
            </a:r>
            <a:endParaRPr lang="en-IN" sz="1400" dirty="0">
              <a:effectLst/>
            </a:endParaRPr>
          </a:p>
          <a:p>
            <a:pPr marL="628650" lvl="1" indent="-171450">
              <a:lnSpc>
                <a:spcPct val="115000"/>
              </a:lnSpc>
              <a:spcAft>
                <a:spcPts val="800"/>
              </a:spcAft>
              <a:buSzPts val="1000"/>
              <a:buFont typeface="Arial" panose="020B0604020202020204" pitchFamily="34" charset="0"/>
              <a:buChar char="•"/>
              <a:tabLst>
                <a:tab pos="914400" algn="l"/>
              </a:tabLst>
            </a:pPr>
            <a:r>
              <a:rPr lang="en-US" sz="1200" kern="100" dirty="0">
                <a:latin typeface="Calibri" panose="020F0502020204030204" pitchFamily="34" charset="0"/>
                <a:ea typeface="Calibri" panose="020F0502020204030204" pitchFamily="34" charset="0"/>
                <a:cs typeface="Times New Roman" panose="02020603050405020304" pitchFamily="18" charset="0"/>
              </a:rPr>
              <a:t>The proposed system uses a string-matching approach, which involves comparing text patterns character by character</a:t>
            </a:r>
          </a:p>
          <a:p>
            <a:pPr marL="628650" lvl="1" indent="-171450">
              <a:lnSpc>
                <a:spcPct val="115000"/>
              </a:lnSpc>
              <a:spcAft>
                <a:spcPts val="800"/>
              </a:spcAft>
              <a:buSzPts val="1000"/>
              <a:buFont typeface="Arial" panose="020B0604020202020204" pitchFamily="34" charset="0"/>
              <a:buChar char="•"/>
              <a:tabLst>
                <a:tab pos="914400" algn="l"/>
              </a:tabLst>
            </a:pPr>
            <a:r>
              <a:rPr lang="en-US" sz="1200" kern="100" dirty="0">
                <a:latin typeface="Calibri" panose="020F0502020204030204" pitchFamily="34" charset="0"/>
                <a:ea typeface="Calibri" panose="020F0502020204030204" pitchFamily="34" charset="0"/>
                <a:cs typeface="Times New Roman" panose="02020603050405020304" pitchFamily="18" charset="0"/>
              </a:rPr>
              <a:t>This approach is enhanced with preprocessing steps like tokenization, stopword removal, and stemming to improve accuracy.</a:t>
            </a:r>
          </a:p>
          <a:p>
            <a:pPr algn="just"/>
            <a:r>
              <a:rPr lang="en-US" dirty="0"/>
              <a:t>4. </a:t>
            </a:r>
            <a:r>
              <a:rPr lang="en-IN" dirty="0"/>
              <a:t>A Plagiarism Detection Architecture Based on OpenStack Services</a:t>
            </a:r>
          </a:p>
          <a:p>
            <a:pPr algn="just"/>
            <a:r>
              <a:rPr lang="en-US" sz="1000" i="1" dirty="0" err="1">
                <a:solidFill>
                  <a:srgbClr val="222222"/>
                </a:solidFill>
                <a:latin typeface="Arial" panose="020B0604020202020204" pitchFamily="34" charset="0"/>
              </a:rPr>
              <a:t>Vodă</a:t>
            </a:r>
            <a:r>
              <a:rPr lang="en-US" sz="1000" i="1" dirty="0">
                <a:solidFill>
                  <a:srgbClr val="222222"/>
                </a:solidFill>
                <a:latin typeface="Arial" panose="020B0604020202020204" pitchFamily="34" charset="0"/>
              </a:rPr>
              <a:t>, Georgian, and Adrian Alexandrescu. "A plagiarism detection architecture based on OpenStack services." 2023 27th International Conference on System Theory, Control and Computing (ICSTCC). IEEE, 2023</a:t>
            </a:r>
            <a:r>
              <a:rPr lang="en-US" sz="1100" i="1" dirty="0">
                <a:solidFill>
                  <a:srgbClr val="222222"/>
                </a:solidFill>
                <a:latin typeface="Arial" panose="020B0604020202020204" pitchFamily="34" charset="0"/>
              </a:rPr>
              <a:t>.</a:t>
            </a:r>
          </a:p>
          <a:p>
            <a:pPr algn="just"/>
            <a:r>
              <a:rPr lang="en-US" sz="1400" dirty="0"/>
              <a:t>Key Takeaway:</a:t>
            </a:r>
            <a:endParaRPr lang="en-IN" sz="1400" dirty="0">
              <a:effectLst/>
            </a:endParaRPr>
          </a:p>
          <a:p>
            <a:pPr marL="628650" lvl="1" indent="-171450">
              <a:lnSpc>
                <a:spcPct val="115000"/>
              </a:lnSpc>
              <a:spcAft>
                <a:spcPts val="800"/>
              </a:spcAft>
              <a:buSzPts val="1000"/>
              <a:buFont typeface="Arial" panose="020B0604020202020204" pitchFamily="34" charset="0"/>
              <a:buChar char="•"/>
              <a:tabLst>
                <a:tab pos="914400" algn="l"/>
              </a:tabLst>
            </a:pPr>
            <a:r>
              <a:rPr lang="en-IN" sz="1200" kern="100" dirty="0">
                <a:latin typeface="Calibri" panose="020F0502020204030204" pitchFamily="34" charset="0"/>
                <a:ea typeface="Calibri" panose="020F0502020204030204" pitchFamily="34" charset="0"/>
                <a:cs typeface="Times New Roman" panose="02020603050405020304" pitchFamily="18" charset="0"/>
              </a:rPr>
              <a:t>Scalability and parallel processing using OpenStack.</a:t>
            </a:r>
          </a:p>
          <a:p>
            <a:pPr marL="628650" lvl="1" indent="-171450">
              <a:lnSpc>
                <a:spcPct val="115000"/>
              </a:lnSpc>
              <a:spcAft>
                <a:spcPts val="800"/>
              </a:spcAft>
              <a:buSzPts val="1000"/>
              <a:buFont typeface="Arial" panose="020B0604020202020204" pitchFamily="34" charset="0"/>
              <a:buChar char="•"/>
              <a:tabLst>
                <a:tab pos="914400" algn="l"/>
              </a:tabLst>
            </a:pPr>
            <a:r>
              <a:rPr lang="en-IN" sz="1200" kern="100" dirty="0">
                <a:latin typeface="Calibri" panose="020F0502020204030204" pitchFamily="34" charset="0"/>
                <a:ea typeface="Calibri" panose="020F0502020204030204" pitchFamily="34" charset="0"/>
                <a:cs typeface="Times New Roman" panose="02020603050405020304" pitchFamily="18" charset="0"/>
              </a:rPr>
              <a:t>Integration with IAM for user management</a:t>
            </a:r>
            <a:r>
              <a:rPr lang="en-US" sz="1200" kern="100" dirty="0">
                <a:latin typeface="Calibri" panose="020F0502020204030204" pitchFamily="34" charset="0"/>
                <a:ea typeface="Calibri" panose="020F0502020204030204" pitchFamily="34" charset="0"/>
                <a:cs typeface="Times New Roman" panose="02020603050405020304" pitchFamily="18" charset="0"/>
              </a:rPr>
              <a:t>.</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15000"/>
              </a:lnSpc>
              <a:spcAft>
                <a:spcPts val="800"/>
              </a:spcAft>
              <a:buSzPts val="1000"/>
              <a:tabLst>
                <a:tab pos="914400" algn="l"/>
              </a:tabLst>
            </a:pP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74806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8" y="248626"/>
            <a:ext cx="4348709"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4. Problem Statement</a:t>
            </a:r>
          </a:p>
          <a:p>
            <a:endParaRPr lang="en-IN" sz="3200" b="1" dirty="0">
              <a:solidFill>
                <a:srgbClr val="46B0FA"/>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F1E4DB4-F2C2-D970-0B75-B7C1751145E1}"/>
              </a:ext>
            </a:extLst>
          </p:cNvPr>
          <p:cNvSpPr txBox="1"/>
          <p:nvPr/>
        </p:nvSpPr>
        <p:spPr>
          <a:xfrm>
            <a:off x="431800" y="1602336"/>
            <a:ext cx="11328400" cy="1200329"/>
          </a:xfrm>
          <a:prstGeom prst="rect">
            <a:avLst/>
          </a:prstGeom>
          <a:noFill/>
        </p:spPr>
        <p:txBody>
          <a:bodyPr wrap="square" rtlCol="0">
            <a:spAutoFit/>
          </a:bodyPr>
          <a:lstStyle/>
          <a:p>
            <a:pPr algn="just"/>
            <a:r>
              <a:rPr lang="en-US" b="0" i="0" dirty="0">
                <a:solidFill>
                  <a:srgbClr val="000000"/>
                </a:solidFill>
                <a:effectLst/>
                <a:latin typeface="__GeistSans_3a0388"/>
              </a:rPr>
              <a:t>Plagiarism detection continues to be an unresolved issue because of rewording techniques combined with word substitution and document restructure methods. Semantic plagiarism remains undetected by various existing detection methods due to excessive text alterations. The proposed system needs development to identify both precise matches along with semantic correspondences using big data tools.</a:t>
            </a:r>
            <a:endParaRPr lang="en-US" dirty="0"/>
          </a:p>
        </p:txBody>
      </p:sp>
      <p:pic>
        <p:nvPicPr>
          <p:cNvPr id="5" name="Picture 4">
            <a:extLst>
              <a:ext uri="{FF2B5EF4-FFF2-40B4-BE49-F238E27FC236}">
                <a16:creationId xmlns:a16="http://schemas.microsoft.com/office/drawing/2014/main" id="{A9A73AAB-09AE-81EE-0751-780072F69606}"/>
              </a:ext>
            </a:extLst>
          </p:cNvPr>
          <p:cNvPicPr>
            <a:picLocks noChangeAspect="1"/>
          </p:cNvPicPr>
          <p:nvPr/>
        </p:nvPicPr>
        <p:blipFill>
          <a:blip r:embed="rId2"/>
          <a:stretch>
            <a:fillRect/>
          </a:stretch>
        </p:blipFill>
        <p:spPr>
          <a:xfrm>
            <a:off x="8796423" y="2438401"/>
            <a:ext cx="3029818" cy="4286038"/>
          </a:xfrm>
          <a:prstGeom prst="rect">
            <a:avLst/>
          </a:prstGeom>
        </p:spPr>
      </p:pic>
    </p:spTree>
    <p:extLst>
      <p:ext uri="{BB962C8B-B14F-4D97-AF65-F5344CB8AC3E}">
        <p14:creationId xmlns:p14="http://schemas.microsoft.com/office/powerpoint/2010/main" val="2314005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5. Objectives</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2BE55F5-3F07-C116-6314-BABC2E4B2A84}"/>
              </a:ext>
            </a:extLst>
          </p:cNvPr>
          <p:cNvPicPr>
            <a:picLocks noChangeAspect="1"/>
          </p:cNvPicPr>
          <p:nvPr/>
        </p:nvPicPr>
        <p:blipFill>
          <a:blip r:embed="rId2"/>
          <a:stretch>
            <a:fillRect/>
          </a:stretch>
        </p:blipFill>
        <p:spPr>
          <a:xfrm>
            <a:off x="2392480" y="922981"/>
            <a:ext cx="7239201" cy="5686393"/>
          </a:xfrm>
          <a:prstGeom prst="rect">
            <a:avLst/>
          </a:prstGeom>
        </p:spPr>
      </p:pic>
    </p:spTree>
    <p:extLst>
      <p:ext uri="{BB962C8B-B14F-4D97-AF65-F5344CB8AC3E}">
        <p14:creationId xmlns:p14="http://schemas.microsoft.com/office/powerpoint/2010/main" val="1617808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E65449-AE43-D7AC-A062-39AB771D202A}"/>
              </a:ext>
            </a:extLst>
          </p:cNvPr>
          <p:cNvSpPr txBox="1"/>
          <p:nvPr/>
        </p:nvSpPr>
        <p:spPr>
          <a:xfrm>
            <a:off x="325927" y="26787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6.Methodology</a:t>
            </a:r>
          </a:p>
        </p:txBody>
      </p:sp>
      <p:pic>
        <p:nvPicPr>
          <p:cNvPr id="5" name="Picture 4">
            <a:extLst>
              <a:ext uri="{FF2B5EF4-FFF2-40B4-BE49-F238E27FC236}">
                <a16:creationId xmlns:a16="http://schemas.microsoft.com/office/drawing/2014/main" id="{C26BEB5C-87DC-908E-09E0-9DF6A9288AB5}"/>
              </a:ext>
            </a:extLst>
          </p:cNvPr>
          <p:cNvPicPr>
            <a:picLocks noChangeAspect="1"/>
          </p:cNvPicPr>
          <p:nvPr/>
        </p:nvPicPr>
        <p:blipFill>
          <a:blip r:embed="rId2"/>
          <a:srcRect l="7237" t="12433" r="8382" b="38921"/>
          <a:stretch/>
        </p:blipFill>
        <p:spPr>
          <a:xfrm>
            <a:off x="1100071" y="1254034"/>
            <a:ext cx="9848904" cy="4258491"/>
          </a:xfrm>
          <a:prstGeom prst="rect">
            <a:avLst/>
          </a:prstGeom>
        </p:spPr>
      </p:pic>
    </p:spTree>
    <p:extLst>
      <p:ext uri="{BB962C8B-B14F-4D97-AF65-F5344CB8AC3E}">
        <p14:creationId xmlns:p14="http://schemas.microsoft.com/office/powerpoint/2010/main" val="896175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C668D-6ED6-30FD-05AB-4EEBFEFA8C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FF6381-E95C-3A99-F2F4-615EBF9771E6}"/>
              </a:ext>
            </a:extLst>
          </p:cNvPr>
          <p:cNvSpPr txBox="1"/>
          <p:nvPr/>
        </p:nvSpPr>
        <p:spPr>
          <a:xfrm>
            <a:off x="325928" y="248626"/>
            <a:ext cx="4348709"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7. Results</a:t>
            </a:r>
          </a:p>
          <a:p>
            <a:endParaRPr lang="en-IN" sz="3200" b="1" dirty="0">
              <a:solidFill>
                <a:srgbClr val="46B0FA"/>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29B8A41-08C6-38E2-E1DA-6AC98080CAB0}"/>
              </a:ext>
            </a:extLst>
          </p:cNvPr>
          <p:cNvPicPr>
            <a:picLocks noChangeAspect="1"/>
          </p:cNvPicPr>
          <p:nvPr/>
        </p:nvPicPr>
        <p:blipFill>
          <a:blip r:embed="rId2"/>
          <a:srcRect r="61623"/>
          <a:stretch/>
        </p:blipFill>
        <p:spPr>
          <a:xfrm>
            <a:off x="325928" y="998549"/>
            <a:ext cx="3575512" cy="1133633"/>
          </a:xfrm>
          <a:prstGeom prst="rect">
            <a:avLst/>
          </a:prstGeom>
        </p:spPr>
      </p:pic>
      <p:pic>
        <p:nvPicPr>
          <p:cNvPr id="6" name="Picture 5">
            <a:extLst>
              <a:ext uri="{FF2B5EF4-FFF2-40B4-BE49-F238E27FC236}">
                <a16:creationId xmlns:a16="http://schemas.microsoft.com/office/drawing/2014/main" id="{9483BA0E-1F4F-E881-5C86-402BE3D08F77}"/>
              </a:ext>
            </a:extLst>
          </p:cNvPr>
          <p:cNvPicPr>
            <a:picLocks noChangeAspect="1"/>
          </p:cNvPicPr>
          <p:nvPr/>
        </p:nvPicPr>
        <p:blipFill>
          <a:blip r:embed="rId3"/>
          <a:stretch>
            <a:fillRect/>
          </a:stretch>
        </p:blipFill>
        <p:spPr>
          <a:xfrm>
            <a:off x="4279619" y="998549"/>
            <a:ext cx="6788975" cy="2174824"/>
          </a:xfrm>
          <a:prstGeom prst="rect">
            <a:avLst/>
          </a:prstGeom>
        </p:spPr>
      </p:pic>
      <p:pic>
        <p:nvPicPr>
          <p:cNvPr id="8" name="Picture 7">
            <a:extLst>
              <a:ext uri="{FF2B5EF4-FFF2-40B4-BE49-F238E27FC236}">
                <a16:creationId xmlns:a16="http://schemas.microsoft.com/office/drawing/2014/main" id="{DFB5CA7B-80FB-EEA6-3966-A23BDE208C07}"/>
              </a:ext>
            </a:extLst>
          </p:cNvPr>
          <p:cNvPicPr>
            <a:picLocks noChangeAspect="1"/>
          </p:cNvPicPr>
          <p:nvPr/>
        </p:nvPicPr>
        <p:blipFill>
          <a:blip r:embed="rId4"/>
          <a:stretch>
            <a:fillRect/>
          </a:stretch>
        </p:blipFill>
        <p:spPr>
          <a:xfrm>
            <a:off x="4279619" y="3484111"/>
            <a:ext cx="6115904" cy="2829320"/>
          </a:xfrm>
          <a:prstGeom prst="rect">
            <a:avLst/>
          </a:prstGeom>
        </p:spPr>
      </p:pic>
      <p:pic>
        <p:nvPicPr>
          <p:cNvPr id="10" name="Picture 9">
            <a:extLst>
              <a:ext uri="{FF2B5EF4-FFF2-40B4-BE49-F238E27FC236}">
                <a16:creationId xmlns:a16="http://schemas.microsoft.com/office/drawing/2014/main" id="{0A5886B5-DA9A-8D8B-B9B8-CBBBEB07F3C2}"/>
              </a:ext>
            </a:extLst>
          </p:cNvPr>
          <p:cNvPicPr>
            <a:picLocks noChangeAspect="1"/>
          </p:cNvPicPr>
          <p:nvPr/>
        </p:nvPicPr>
        <p:blipFill>
          <a:blip r:embed="rId5"/>
          <a:srcRect r="50874"/>
          <a:stretch/>
        </p:blipFill>
        <p:spPr>
          <a:xfrm>
            <a:off x="325928" y="2500292"/>
            <a:ext cx="3575512" cy="1967639"/>
          </a:xfrm>
          <a:prstGeom prst="rect">
            <a:avLst/>
          </a:prstGeom>
        </p:spPr>
      </p:pic>
    </p:spTree>
    <p:extLst>
      <p:ext uri="{BB962C8B-B14F-4D97-AF65-F5344CB8AC3E}">
        <p14:creationId xmlns:p14="http://schemas.microsoft.com/office/powerpoint/2010/main" val="956973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E0B01-9BD1-CF16-3E7D-40BD8B6581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FA39C5-2C29-C865-067F-9A372F377948}"/>
              </a:ext>
            </a:extLst>
          </p:cNvPr>
          <p:cNvSpPr txBox="1"/>
          <p:nvPr/>
        </p:nvSpPr>
        <p:spPr>
          <a:xfrm>
            <a:off x="325928" y="248626"/>
            <a:ext cx="4348709"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7. Results</a:t>
            </a:r>
          </a:p>
          <a:p>
            <a:endParaRPr lang="en-IN" sz="3200" b="1" dirty="0">
              <a:solidFill>
                <a:srgbClr val="46B0FA"/>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8C04CCA-6F7C-416F-8D74-6A5B36E44585}"/>
              </a:ext>
            </a:extLst>
          </p:cNvPr>
          <p:cNvPicPr>
            <a:picLocks noChangeAspect="1"/>
          </p:cNvPicPr>
          <p:nvPr/>
        </p:nvPicPr>
        <p:blipFill>
          <a:blip r:embed="rId2"/>
          <a:stretch>
            <a:fillRect/>
          </a:stretch>
        </p:blipFill>
        <p:spPr>
          <a:xfrm>
            <a:off x="1437625" y="935825"/>
            <a:ext cx="7863129" cy="2532603"/>
          </a:xfrm>
          <a:prstGeom prst="rect">
            <a:avLst/>
          </a:prstGeom>
        </p:spPr>
      </p:pic>
      <p:pic>
        <p:nvPicPr>
          <p:cNvPr id="8" name="Picture 7">
            <a:extLst>
              <a:ext uri="{FF2B5EF4-FFF2-40B4-BE49-F238E27FC236}">
                <a16:creationId xmlns:a16="http://schemas.microsoft.com/office/drawing/2014/main" id="{2576112B-2F8E-3F04-B8F1-DDDED5EAC7FB}"/>
              </a:ext>
            </a:extLst>
          </p:cNvPr>
          <p:cNvPicPr>
            <a:picLocks noChangeAspect="1"/>
          </p:cNvPicPr>
          <p:nvPr/>
        </p:nvPicPr>
        <p:blipFill>
          <a:blip r:embed="rId3"/>
          <a:stretch>
            <a:fillRect/>
          </a:stretch>
        </p:blipFill>
        <p:spPr>
          <a:xfrm>
            <a:off x="1437625" y="3738758"/>
            <a:ext cx="7863129" cy="2546728"/>
          </a:xfrm>
          <a:prstGeom prst="rect">
            <a:avLst/>
          </a:prstGeom>
        </p:spPr>
      </p:pic>
    </p:spTree>
    <p:extLst>
      <p:ext uri="{BB962C8B-B14F-4D97-AF65-F5344CB8AC3E}">
        <p14:creationId xmlns:p14="http://schemas.microsoft.com/office/powerpoint/2010/main" val="1415286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B1462-6BC3-AA0C-C1EE-BAD88783D6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41F629-A8A2-9700-2F2F-89EEC202C1FD}"/>
              </a:ext>
            </a:extLst>
          </p:cNvPr>
          <p:cNvSpPr txBox="1"/>
          <p:nvPr/>
        </p:nvSpPr>
        <p:spPr>
          <a:xfrm>
            <a:off x="325928" y="248626"/>
            <a:ext cx="4348709"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7. Results</a:t>
            </a:r>
          </a:p>
          <a:p>
            <a:endParaRPr lang="en-IN" sz="3200" b="1" dirty="0">
              <a:solidFill>
                <a:srgbClr val="46B0FA"/>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495A565-A425-B1EE-81AF-78B92AE7DFC0}"/>
              </a:ext>
            </a:extLst>
          </p:cNvPr>
          <p:cNvPicPr>
            <a:picLocks noChangeAspect="1"/>
          </p:cNvPicPr>
          <p:nvPr/>
        </p:nvPicPr>
        <p:blipFill>
          <a:blip r:embed="rId2"/>
          <a:stretch>
            <a:fillRect/>
          </a:stretch>
        </p:blipFill>
        <p:spPr>
          <a:xfrm>
            <a:off x="464432" y="1325844"/>
            <a:ext cx="4071700" cy="3192012"/>
          </a:xfrm>
          <a:prstGeom prst="rect">
            <a:avLst/>
          </a:prstGeom>
        </p:spPr>
      </p:pic>
      <p:pic>
        <p:nvPicPr>
          <p:cNvPr id="7" name="Picture 6">
            <a:extLst>
              <a:ext uri="{FF2B5EF4-FFF2-40B4-BE49-F238E27FC236}">
                <a16:creationId xmlns:a16="http://schemas.microsoft.com/office/drawing/2014/main" id="{9C2C6E79-6F59-C780-B18D-28A7EDB01F83}"/>
              </a:ext>
            </a:extLst>
          </p:cNvPr>
          <p:cNvPicPr>
            <a:picLocks noChangeAspect="1"/>
          </p:cNvPicPr>
          <p:nvPr/>
        </p:nvPicPr>
        <p:blipFill>
          <a:blip r:embed="rId3"/>
          <a:stretch>
            <a:fillRect/>
          </a:stretch>
        </p:blipFill>
        <p:spPr>
          <a:xfrm>
            <a:off x="5822326" y="888275"/>
            <a:ext cx="5451984" cy="4835004"/>
          </a:xfrm>
          <a:prstGeom prst="rect">
            <a:avLst/>
          </a:prstGeom>
        </p:spPr>
      </p:pic>
    </p:spTree>
    <p:extLst>
      <p:ext uri="{BB962C8B-B14F-4D97-AF65-F5344CB8AC3E}">
        <p14:creationId xmlns:p14="http://schemas.microsoft.com/office/powerpoint/2010/main" val="2379816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58A7-5E9D-F7C1-66D1-27B05FDF1B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B0A078-0EBF-FC66-1D22-C455F98CCC43}"/>
              </a:ext>
            </a:extLst>
          </p:cNvPr>
          <p:cNvSpPr txBox="1"/>
          <p:nvPr/>
        </p:nvSpPr>
        <p:spPr>
          <a:xfrm>
            <a:off x="325928" y="248626"/>
            <a:ext cx="4348709"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8. UML Diagram</a:t>
            </a:r>
          </a:p>
          <a:p>
            <a:endParaRPr lang="en-IN" sz="3200" b="1" dirty="0">
              <a:solidFill>
                <a:srgbClr val="46B0FA"/>
              </a:solidFill>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B9D90562-DFD5-A26A-C2DB-2460EDEF2C67}"/>
              </a:ext>
            </a:extLst>
          </p:cNvPr>
          <p:cNvGrpSpPr/>
          <p:nvPr/>
        </p:nvGrpSpPr>
        <p:grpSpPr>
          <a:xfrm>
            <a:off x="4705115" y="2816552"/>
            <a:ext cx="2387082" cy="271423"/>
            <a:chOff x="4601545" y="2816552"/>
            <a:chExt cx="2387082" cy="271423"/>
          </a:xfrm>
        </p:grpSpPr>
        <p:sp>
          <p:nvSpPr>
            <p:cNvPr id="9" name="TextBox 8">
              <a:extLst>
                <a:ext uri="{FF2B5EF4-FFF2-40B4-BE49-F238E27FC236}">
                  <a16:creationId xmlns:a16="http://schemas.microsoft.com/office/drawing/2014/main" id="{108F5237-956E-5960-A4B1-469C0BFBB674}"/>
                </a:ext>
              </a:extLst>
            </p:cNvPr>
            <p:cNvSpPr txBox="1"/>
            <p:nvPr/>
          </p:nvSpPr>
          <p:spPr>
            <a:xfrm>
              <a:off x="4733107" y="2826365"/>
              <a:ext cx="2255520" cy="261610"/>
            </a:xfrm>
            <a:prstGeom prst="rect">
              <a:avLst/>
            </a:prstGeom>
            <a:noFill/>
          </p:spPr>
          <p:txBody>
            <a:bodyPr wrap="square" rtlCol="0">
              <a:spAutoFit/>
            </a:bodyPr>
            <a:lstStyle/>
            <a:p>
              <a:r>
                <a:rPr lang="en-US" sz="1050" dirty="0"/>
                <a:t>USE-CASE DIAGRAM</a:t>
              </a:r>
              <a:endParaRPr lang="en-IN" sz="1050" dirty="0"/>
            </a:p>
          </p:txBody>
        </p:sp>
        <p:pic>
          <p:nvPicPr>
            <p:cNvPr id="12" name="Graphic 11" descr="Arrow: Clockwise curve with solid fill">
              <a:extLst>
                <a:ext uri="{FF2B5EF4-FFF2-40B4-BE49-F238E27FC236}">
                  <a16:creationId xmlns:a16="http://schemas.microsoft.com/office/drawing/2014/main" id="{80877DB7-1B31-7407-F274-A437F46AC4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01545" y="2816552"/>
              <a:ext cx="263123" cy="263123"/>
            </a:xfrm>
            <a:prstGeom prst="rect">
              <a:avLst/>
            </a:prstGeom>
          </p:spPr>
        </p:pic>
      </p:grpSp>
      <p:grpSp>
        <p:nvGrpSpPr>
          <p:cNvPr id="3" name="Group 2">
            <a:extLst>
              <a:ext uri="{FF2B5EF4-FFF2-40B4-BE49-F238E27FC236}">
                <a16:creationId xmlns:a16="http://schemas.microsoft.com/office/drawing/2014/main" id="{29E4A841-B94A-2242-94F8-1F6041A3A91E}"/>
              </a:ext>
            </a:extLst>
          </p:cNvPr>
          <p:cNvGrpSpPr/>
          <p:nvPr/>
        </p:nvGrpSpPr>
        <p:grpSpPr>
          <a:xfrm>
            <a:off x="4753945" y="6412053"/>
            <a:ext cx="2387082" cy="304708"/>
            <a:chOff x="4753945" y="6412053"/>
            <a:chExt cx="2387082" cy="304708"/>
          </a:xfrm>
        </p:grpSpPr>
        <p:sp>
          <p:nvSpPr>
            <p:cNvPr id="13" name="TextBox 12">
              <a:extLst>
                <a:ext uri="{FF2B5EF4-FFF2-40B4-BE49-F238E27FC236}">
                  <a16:creationId xmlns:a16="http://schemas.microsoft.com/office/drawing/2014/main" id="{84A8CCD8-F1AE-F012-473B-88459A4E4BC7}"/>
                </a:ext>
              </a:extLst>
            </p:cNvPr>
            <p:cNvSpPr txBox="1"/>
            <p:nvPr/>
          </p:nvSpPr>
          <p:spPr>
            <a:xfrm>
              <a:off x="4885507" y="6455151"/>
              <a:ext cx="2255520" cy="261610"/>
            </a:xfrm>
            <a:prstGeom prst="rect">
              <a:avLst/>
            </a:prstGeom>
            <a:noFill/>
          </p:spPr>
          <p:txBody>
            <a:bodyPr wrap="square" rtlCol="0">
              <a:spAutoFit/>
            </a:bodyPr>
            <a:lstStyle/>
            <a:p>
              <a:r>
                <a:rPr lang="en-US" sz="1050" dirty="0"/>
                <a:t>CLASS DIAGRAM</a:t>
              </a:r>
              <a:endParaRPr lang="en-IN" sz="1050" dirty="0"/>
            </a:p>
          </p:txBody>
        </p:sp>
        <p:pic>
          <p:nvPicPr>
            <p:cNvPr id="14" name="Graphic 13" descr="Arrow: Clockwise curve with solid fill">
              <a:extLst>
                <a:ext uri="{FF2B5EF4-FFF2-40B4-BE49-F238E27FC236}">
                  <a16:creationId xmlns:a16="http://schemas.microsoft.com/office/drawing/2014/main" id="{9654C7CC-062E-6BAB-6752-6BDB5FBAC7E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53945" y="6412053"/>
              <a:ext cx="263123" cy="263123"/>
            </a:xfrm>
            <a:prstGeom prst="rect">
              <a:avLst/>
            </a:prstGeom>
          </p:spPr>
        </p:pic>
      </p:grpSp>
      <p:pic>
        <p:nvPicPr>
          <p:cNvPr id="7" name="Picture 6">
            <a:extLst>
              <a:ext uri="{FF2B5EF4-FFF2-40B4-BE49-F238E27FC236}">
                <a16:creationId xmlns:a16="http://schemas.microsoft.com/office/drawing/2014/main" id="{F8A74D5B-83C5-A1AF-F977-3DF9A665CA81}"/>
              </a:ext>
            </a:extLst>
          </p:cNvPr>
          <p:cNvPicPr>
            <a:picLocks noChangeAspect="1"/>
          </p:cNvPicPr>
          <p:nvPr/>
        </p:nvPicPr>
        <p:blipFill>
          <a:blip r:embed="rId4"/>
          <a:stretch>
            <a:fillRect/>
          </a:stretch>
        </p:blipFill>
        <p:spPr>
          <a:xfrm>
            <a:off x="1838733" y="818953"/>
            <a:ext cx="7122387" cy="1817261"/>
          </a:xfrm>
          <a:prstGeom prst="rect">
            <a:avLst/>
          </a:prstGeom>
        </p:spPr>
      </p:pic>
      <p:pic>
        <p:nvPicPr>
          <p:cNvPr id="15" name="Picture 14">
            <a:extLst>
              <a:ext uri="{FF2B5EF4-FFF2-40B4-BE49-F238E27FC236}">
                <a16:creationId xmlns:a16="http://schemas.microsoft.com/office/drawing/2014/main" id="{9D776287-658D-2247-A493-8D0736C04499}"/>
              </a:ext>
            </a:extLst>
          </p:cNvPr>
          <p:cNvPicPr>
            <a:picLocks noChangeAspect="1"/>
          </p:cNvPicPr>
          <p:nvPr/>
        </p:nvPicPr>
        <p:blipFill>
          <a:blip r:embed="rId5"/>
          <a:stretch>
            <a:fillRect/>
          </a:stretch>
        </p:blipFill>
        <p:spPr>
          <a:xfrm>
            <a:off x="384245" y="3475631"/>
            <a:ext cx="10953244" cy="2847958"/>
          </a:xfrm>
          <a:prstGeom prst="rect">
            <a:avLst/>
          </a:prstGeom>
        </p:spPr>
      </p:pic>
    </p:spTree>
    <p:extLst>
      <p:ext uri="{BB962C8B-B14F-4D97-AF65-F5344CB8AC3E}">
        <p14:creationId xmlns:p14="http://schemas.microsoft.com/office/powerpoint/2010/main" val="2327827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9. PERT Chart</a:t>
            </a:r>
          </a:p>
        </p:txBody>
      </p:sp>
      <p:sp>
        <p:nvSpPr>
          <p:cNvPr id="4" name="Rectangle 2">
            <a:extLst>
              <a:ext uri="{FF2B5EF4-FFF2-40B4-BE49-F238E27FC236}">
                <a16:creationId xmlns:a16="http://schemas.microsoft.com/office/drawing/2014/main" id="{66E41F3A-F4B6-F51C-2706-47EBA15640D4}"/>
              </a:ext>
            </a:extLst>
          </p:cNvPr>
          <p:cNvSpPr>
            <a:spLocks noChangeArrowheads="1"/>
          </p:cNvSpPr>
          <p:nvPr/>
        </p:nvSpPr>
        <p:spPr bwMode="auto">
          <a:xfrm>
            <a:off x="481263" y="10202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3">
            <a:extLst>
              <a:ext uri="{FF2B5EF4-FFF2-40B4-BE49-F238E27FC236}">
                <a16:creationId xmlns:a16="http://schemas.microsoft.com/office/drawing/2014/main" id="{30065EB4-3169-EF08-D034-51DF7360DE58}"/>
              </a:ext>
            </a:extLst>
          </p:cNvPr>
          <p:cNvSpPr>
            <a:spLocks noChangeArrowheads="1"/>
          </p:cNvSpPr>
          <p:nvPr/>
        </p:nvSpPr>
        <p:spPr bwMode="auto">
          <a:xfrm>
            <a:off x="481263" y="19727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4" name="Picture 13">
            <a:extLst>
              <a:ext uri="{FF2B5EF4-FFF2-40B4-BE49-F238E27FC236}">
                <a16:creationId xmlns:a16="http://schemas.microsoft.com/office/drawing/2014/main" id="{0C895008-1CC4-0FDD-5BA2-DE8C3C6F773A}"/>
              </a:ext>
            </a:extLst>
          </p:cNvPr>
          <p:cNvPicPr>
            <a:picLocks noChangeAspect="1"/>
          </p:cNvPicPr>
          <p:nvPr/>
        </p:nvPicPr>
        <p:blipFill>
          <a:blip r:embed="rId2"/>
          <a:stretch>
            <a:fillRect/>
          </a:stretch>
        </p:blipFill>
        <p:spPr>
          <a:xfrm>
            <a:off x="906914" y="833401"/>
            <a:ext cx="10378171" cy="5837721"/>
          </a:xfrm>
          <a:prstGeom prst="rect">
            <a:avLst/>
          </a:prstGeom>
        </p:spPr>
      </p:pic>
    </p:spTree>
    <p:extLst>
      <p:ext uri="{BB962C8B-B14F-4D97-AF65-F5344CB8AC3E}">
        <p14:creationId xmlns:p14="http://schemas.microsoft.com/office/powerpoint/2010/main" val="2743588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71508-7888-452D-02DC-8242F27B426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B783EDB-4874-7607-B929-DB5E3CB6750B}"/>
              </a:ext>
            </a:extLst>
          </p:cNvPr>
          <p:cNvPicPr>
            <a:picLocks noChangeAspect="1"/>
          </p:cNvPicPr>
          <p:nvPr/>
        </p:nvPicPr>
        <p:blipFill>
          <a:blip r:embed="rId2"/>
          <a:srcRect t="19420"/>
          <a:stretch/>
        </p:blipFill>
        <p:spPr>
          <a:xfrm>
            <a:off x="1577009" y="833401"/>
            <a:ext cx="9144000" cy="5526157"/>
          </a:xfrm>
          <a:prstGeom prst="rect">
            <a:avLst/>
          </a:prstGeom>
        </p:spPr>
      </p:pic>
      <p:sp>
        <p:nvSpPr>
          <p:cNvPr id="2" name="TextBox 1">
            <a:extLst>
              <a:ext uri="{FF2B5EF4-FFF2-40B4-BE49-F238E27FC236}">
                <a16:creationId xmlns:a16="http://schemas.microsoft.com/office/drawing/2014/main" id="{6F76A710-ADAC-EC2D-065F-401732BBF9DE}"/>
              </a:ext>
            </a:extLst>
          </p:cNvPr>
          <p:cNvSpPr txBox="1"/>
          <p:nvPr/>
        </p:nvSpPr>
        <p:spPr>
          <a:xfrm>
            <a:off x="325927" y="24862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10. SWOT Analysis</a:t>
            </a:r>
          </a:p>
        </p:txBody>
      </p:sp>
      <p:sp>
        <p:nvSpPr>
          <p:cNvPr id="4" name="Rectangle 2">
            <a:extLst>
              <a:ext uri="{FF2B5EF4-FFF2-40B4-BE49-F238E27FC236}">
                <a16:creationId xmlns:a16="http://schemas.microsoft.com/office/drawing/2014/main" id="{7F4EBA8F-9E48-3C60-0745-A0A3A0A40029}"/>
              </a:ext>
            </a:extLst>
          </p:cNvPr>
          <p:cNvSpPr>
            <a:spLocks noChangeArrowheads="1"/>
          </p:cNvSpPr>
          <p:nvPr/>
        </p:nvSpPr>
        <p:spPr bwMode="auto">
          <a:xfrm>
            <a:off x="481263" y="10202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3">
            <a:extLst>
              <a:ext uri="{FF2B5EF4-FFF2-40B4-BE49-F238E27FC236}">
                <a16:creationId xmlns:a16="http://schemas.microsoft.com/office/drawing/2014/main" id="{55E73B82-C113-C73B-F730-34B42352921A}"/>
              </a:ext>
            </a:extLst>
          </p:cNvPr>
          <p:cNvSpPr>
            <a:spLocks noChangeArrowheads="1"/>
          </p:cNvSpPr>
          <p:nvPr/>
        </p:nvSpPr>
        <p:spPr bwMode="auto">
          <a:xfrm>
            <a:off x="481263" y="19727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731865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329649"/>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11. Conclusion</a:t>
            </a:r>
          </a:p>
        </p:txBody>
      </p:sp>
      <p:sp>
        <p:nvSpPr>
          <p:cNvPr id="3" name="TextBox 2">
            <a:extLst>
              <a:ext uri="{FF2B5EF4-FFF2-40B4-BE49-F238E27FC236}">
                <a16:creationId xmlns:a16="http://schemas.microsoft.com/office/drawing/2014/main" id="{A155B4F0-0975-A1BE-D5B3-57470846309E}"/>
              </a:ext>
            </a:extLst>
          </p:cNvPr>
          <p:cNvSpPr txBox="1"/>
          <p:nvPr/>
        </p:nvSpPr>
        <p:spPr>
          <a:xfrm>
            <a:off x="457200" y="1280119"/>
            <a:ext cx="11328400" cy="2308324"/>
          </a:xfrm>
          <a:prstGeom prst="rect">
            <a:avLst/>
          </a:prstGeom>
          <a:noFill/>
        </p:spPr>
        <p:txBody>
          <a:bodyPr wrap="square" rtlCol="0">
            <a:spAutoFit/>
          </a:bodyPr>
          <a:lstStyle/>
          <a:p>
            <a:pPr algn="just"/>
            <a:r>
              <a:rPr lang="en-US" b="0" i="0" dirty="0">
                <a:solidFill>
                  <a:srgbClr val="000000"/>
                </a:solidFill>
                <a:effectLst/>
                <a:latin typeface="__GeistSans_3a0388"/>
              </a:rPr>
              <a:t>Determination of plagiarism stands as an essential operation for sustaining academic integrity as well as preserving original content material. The study analyzes numerous algorithms along with techniques for constructing an efficient plagiarism detection system. The proposed system utilizes traditional and NLP-based methods along with big data technology to achieve improved accuracy levels while resolving the current limitations of existing detection methods. Large textual data becomes manageable through scalable big data tools during implementation. Future work should include deep learning system integration which will lead to better detection of paraphrases in plagiarism. Practical use of this system depends on user-friendly interfaces and easy accessibility which simplifies content verification processes for both researchers and education professionals and authors. </a:t>
            </a:r>
            <a:endParaRPr lang="en-US" dirty="0"/>
          </a:p>
        </p:txBody>
      </p:sp>
    </p:spTree>
    <p:extLst>
      <p:ext uri="{BB962C8B-B14F-4D97-AF65-F5344CB8AC3E}">
        <p14:creationId xmlns:p14="http://schemas.microsoft.com/office/powerpoint/2010/main" val="1359081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329649"/>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12. References</a:t>
            </a:r>
          </a:p>
        </p:txBody>
      </p:sp>
      <p:sp>
        <p:nvSpPr>
          <p:cNvPr id="4" name="TextBox 3">
            <a:extLst>
              <a:ext uri="{FF2B5EF4-FFF2-40B4-BE49-F238E27FC236}">
                <a16:creationId xmlns:a16="http://schemas.microsoft.com/office/drawing/2014/main" id="{6885E409-3921-FAB3-569C-E4AC04846A8C}"/>
              </a:ext>
            </a:extLst>
          </p:cNvPr>
          <p:cNvSpPr txBox="1"/>
          <p:nvPr/>
        </p:nvSpPr>
        <p:spPr>
          <a:xfrm>
            <a:off x="457200" y="1280119"/>
            <a:ext cx="11328400" cy="4778231"/>
          </a:xfrm>
          <a:prstGeom prst="rect">
            <a:avLst/>
          </a:prstGeom>
          <a:noFill/>
        </p:spPr>
        <p:txBody>
          <a:bodyPr wrap="square" rtlCol="0">
            <a:spAutoFit/>
          </a:bodyPr>
          <a:lstStyle/>
          <a:p>
            <a:pPr marL="342900" indent="-342900" algn="just">
              <a:buAutoNum type="arabicPeriod"/>
            </a:pPr>
            <a:r>
              <a:rPr lang="en-IN" sz="1050" dirty="0"/>
              <a:t>R. </a:t>
            </a:r>
            <a:r>
              <a:rPr lang="en-IN" sz="1050" dirty="0" err="1"/>
              <a:t>Rehurek</a:t>
            </a:r>
            <a:r>
              <a:rPr lang="en-IN" sz="1050" dirty="0"/>
              <a:t> and P. Sojka, ”Software Framework for Topic Modelling with Large Corpora,” in Proceedings of the LREC 2010 Workshop on New Challenges for NLP Frameworks, Valletta, Malta, May 2010, pp. 45–50. [Online]. Available: </a:t>
            </a:r>
            <a:r>
              <a:rPr lang="en-IN" sz="1050" dirty="0">
                <a:hlinkClick r:id="rId2"/>
              </a:rPr>
              <a:t>https://radimrehurek.com/gensim/</a:t>
            </a:r>
            <a:endParaRPr lang="en-IN" sz="1050" dirty="0"/>
          </a:p>
          <a:p>
            <a:pPr marL="342900" indent="-342900" algn="just">
              <a:buAutoNum type="arabicPeriod"/>
            </a:pPr>
            <a:r>
              <a:rPr lang="en-US" sz="1050" dirty="0"/>
              <a:t>T. </a:t>
            </a:r>
            <a:r>
              <a:rPr lang="en-US" sz="1050" dirty="0" err="1"/>
              <a:t>Mikolov</a:t>
            </a:r>
            <a:r>
              <a:rPr lang="en-US" sz="1050" dirty="0"/>
              <a:t>, K. Chen, G. Corrado, and J. Dean, ”Efficient Estimation of Word Rep </a:t>
            </a:r>
            <a:r>
              <a:rPr lang="en-US" sz="1050" dirty="0" err="1"/>
              <a:t>resentations</a:t>
            </a:r>
            <a:r>
              <a:rPr lang="en-US" sz="1050" dirty="0"/>
              <a:t> in Vector Space,” in Proceedings of the 1st International Conference on Learning Representations (ICLR), Scottsdale, Arizona, May 2013. [Online]. Avail able: </a:t>
            </a:r>
            <a:r>
              <a:rPr lang="en-US" sz="1050" dirty="0">
                <a:hlinkClick r:id="rId3"/>
              </a:rPr>
              <a:t>https://arxiv.org/abs/1301.3781</a:t>
            </a:r>
            <a:endParaRPr lang="en-IN" sz="1050" dirty="0"/>
          </a:p>
          <a:p>
            <a:pPr marL="342900" indent="-342900" algn="just">
              <a:buAutoNum type="arabicPeriod"/>
            </a:pPr>
            <a:r>
              <a:rPr lang="en-US" sz="1050" dirty="0"/>
              <a:t>V. Sanh, L. Debut, J. </a:t>
            </a:r>
            <a:r>
              <a:rPr lang="en-US" sz="1050" dirty="0" err="1"/>
              <a:t>Chaumond</a:t>
            </a:r>
            <a:r>
              <a:rPr lang="en-US" sz="1050" dirty="0"/>
              <a:t>, and T. Wolf, ”</a:t>
            </a:r>
            <a:r>
              <a:rPr lang="en-US" sz="1050" dirty="0" err="1"/>
              <a:t>DistilBERT</a:t>
            </a:r>
            <a:r>
              <a:rPr lang="en-US" sz="1050" dirty="0"/>
              <a:t>, a distilled </a:t>
            </a:r>
            <a:r>
              <a:rPr lang="en-US" sz="1050" dirty="0" err="1"/>
              <a:t>ver</a:t>
            </a:r>
            <a:r>
              <a:rPr lang="en-US" sz="1050" dirty="0"/>
              <a:t> </a:t>
            </a:r>
            <a:r>
              <a:rPr lang="en-US" sz="1050" dirty="0" err="1"/>
              <a:t>sion</a:t>
            </a:r>
            <a:r>
              <a:rPr lang="en-US" sz="1050" dirty="0"/>
              <a:t> of BERT: smaller, faster, cheaper and lighter,” in Proceedings of the 5th Workshop on Energy Efficient Machine Learning and Cognitive </a:t>
            </a:r>
            <a:r>
              <a:rPr lang="en-US" sz="1050" dirty="0" err="1"/>
              <a:t>Comput</a:t>
            </a:r>
            <a:r>
              <a:rPr lang="en-US" sz="1050" dirty="0"/>
              <a:t> </a:t>
            </a:r>
            <a:r>
              <a:rPr lang="en-US" sz="1050" dirty="0" err="1"/>
              <a:t>ing</a:t>
            </a:r>
            <a:r>
              <a:rPr lang="en-US" sz="1050" dirty="0"/>
              <a:t> at </a:t>
            </a:r>
            <a:r>
              <a:rPr lang="en-US" sz="1050" dirty="0" err="1"/>
              <a:t>NeurIPS</a:t>
            </a:r>
            <a:r>
              <a:rPr lang="en-US" sz="1050" dirty="0"/>
              <a:t> 2019, Vancouver, Canada, December 2019. [Online]. Available: </a:t>
            </a:r>
            <a:r>
              <a:rPr lang="en-US" sz="1050" dirty="0">
                <a:hlinkClick r:id="rId4"/>
              </a:rPr>
              <a:t>https://arxiv.org/abs/1910.01108</a:t>
            </a:r>
            <a:endParaRPr lang="en-IN" sz="1050" dirty="0"/>
          </a:p>
          <a:p>
            <a:pPr marL="342900" indent="-342900" algn="just">
              <a:buAutoNum type="arabicPeriod"/>
            </a:pPr>
            <a:r>
              <a:rPr lang="en-US" sz="1050" dirty="0"/>
              <a:t>T. Wolf et al., ”Transformers: State-of-the-Art Natural Language Processing,” in Proceedings of the 2020 Conference on Empirical Methods in Natural Lan </a:t>
            </a:r>
            <a:r>
              <a:rPr lang="en-US" sz="1050" dirty="0" err="1"/>
              <a:t>guage</a:t>
            </a:r>
            <a:r>
              <a:rPr lang="en-US" sz="1050" dirty="0"/>
              <a:t> Processing (EMNLP), Online, November 2020, pp. 38–45. [Online]. Available: </a:t>
            </a:r>
            <a:r>
              <a:rPr lang="en-US" sz="1050" dirty="0">
                <a:hlinkClick r:id="rId5"/>
              </a:rPr>
              <a:t>https://www.aclweb.org/anthology/2020.emnlp-main.5</a:t>
            </a:r>
            <a:r>
              <a:rPr lang="en-IN" sz="1050" dirty="0">
                <a:hlinkClick r:id="rId5"/>
              </a:rPr>
              <a:t>/</a:t>
            </a:r>
            <a:endParaRPr lang="en-IN" sz="1050" dirty="0"/>
          </a:p>
          <a:p>
            <a:pPr marL="342900" indent="-342900" algn="just">
              <a:buAutoNum type="arabicPeriod"/>
            </a:pPr>
            <a:r>
              <a:rPr lang="en-IN" sz="1050" dirty="0"/>
              <a:t>A. </a:t>
            </a:r>
            <a:r>
              <a:rPr lang="en-IN" sz="1050" dirty="0" err="1"/>
              <a:t>Paszke</a:t>
            </a:r>
            <a:r>
              <a:rPr lang="en-IN" sz="1050" dirty="0"/>
              <a:t> et al., ”</a:t>
            </a:r>
            <a:r>
              <a:rPr lang="en-IN" sz="1050" dirty="0" err="1"/>
              <a:t>PyTorch</a:t>
            </a:r>
            <a:r>
              <a:rPr lang="en-IN" sz="1050" dirty="0"/>
              <a:t>: An Imperative Style, High-Performance Deep Learn </a:t>
            </a:r>
            <a:r>
              <a:rPr lang="en-IN" sz="1050" dirty="0" err="1"/>
              <a:t>ing</a:t>
            </a:r>
            <a:r>
              <a:rPr lang="en-IN" sz="1050" dirty="0"/>
              <a:t> Library,” in Advances in Neural Information Processing Systems 32 (</a:t>
            </a:r>
            <a:r>
              <a:rPr lang="en-IN" sz="1050" dirty="0" err="1"/>
              <a:t>NeurIPS</a:t>
            </a:r>
            <a:r>
              <a:rPr lang="en-IN" sz="1050" dirty="0"/>
              <a:t> 2019), Vancouver, Canada, December 2019, pp. 8024–8035. [Online]. Available: </a:t>
            </a:r>
            <a:r>
              <a:rPr lang="en-IN" sz="1050" dirty="0">
                <a:hlinkClick r:id="rId6"/>
              </a:rPr>
              <a:t>https://arxiv.org/abs/1912.01703</a:t>
            </a:r>
            <a:endParaRPr lang="en-IN" sz="1050" dirty="0"/>
          </a:p>
          <a:p>
            <a:pPr marL="342900" indent="-342900" algn="just">
              <a:buAutoNum type="arabicPeriod"/>
            </a:pPr>
            <a:r>
              <a:rPr lang="en-US" sz="1050" dirty="0"/>
              <a:t>C. R. Harris et al., ”Array programming with NumPy,” Nature, vol. 585, pp. 357–362, September 2020. [Online]. Available: </a:t>
            </a:r>
            <a:r>
              <a:rPr lang="en-US" sz="1050" dirty="0">
                <a:hlinkClick r:id="rId7"/>
              </a:rPr>
              <a:t>https://doi.org/10.1038/s41586-020-2649-2</a:t>
            </a:r>
            <a:endParaRPr lang="en-IN" sz="1050" dirty="0"/>
          </a:p>
          <a:p>
            <a:pPr marL="342900" indent="-342900" algn="just">
              <a:buAutoNum type="arabicPeriod"/>
            </a:pPr>
            <a:r>
              <a:rPr lang="en-US" sz="1050" dirty="0" err="1"/>
              <a:t>IPython</a:t>
            </a:r>
            <a:r>
              <a:rPr lang="en-US" sz="1050" dirty="0"/>
              <a:t> Development Team, ”</a:t>
            </a:r>
            <a:r>
              <a:rPr lang="en-US" sz="1050" dirty="0" err="1"/>
              <a:t>IPython</a:t>
            </a:r>
            <a:r>
              <a:rPr lang="en-US" sz="1050" dirty="0"/>
              <a:t> Widgets: Interactive HTML Widgets for </a:t>
            </a:r>
            <a:r>
              <a:rPr lang="en-US" sz="1050" dirty="0" err="1"/>
              <a:t>Jupyter</a:t>
            </a:r>
            <a:r>
              <a:rPr lang="en-US" sz="1050" dirty="0"/>
              <a:t> Notebooks,” 2023. [Online]. Available: </a:t>
            </a:r>
            <a:r>
              <a:rPr lang="en-US" sz="1050" dirty="0">
                <a:hlinkClick r:id="rId8"/>
              </a:rPr>
              <a:t>https://ipywidgets.readthedocs.io/en/stable/</a:t>
            </a:r>
            <a:endParaRPr lang="en-IN" sz="1050" dirty="0"/>
          </a:p>
          <a:p>
            <a:pPr marL="342900" indent="-342900" algn="just">
              <a:buAutoNum type="arabicPeriod"/>
            </a:pPr>
            <a:r>
              <a:rPr lang="en-IN" sz="1050" dirty="0"/>
              <a:t>A. </a:t>
            </a:r>
            <a:r>
              <a:rPr lang="en-IN" sz="1050" dirty="0" err="1"/>
              <a:t>Pratama</a:t>
            </a:r>
            <a:r>
              <a:rPr lang="en-IN" sz="1050" dirty="0"/>
              <a:t> and B. Susilo, ”String Matching based Plagiarism Detection for Docu </a:t>
            </a:r>
            <a:r>
              <a:rPr lang="en-IN" sz="1050" dirty="0" err="1"/>
              <a:t>ment</a:t>
            </a:r>
            <a:r>
              <a:rPr lang="en-IN" sz="1050" dirty="0"/>
              <a:t> in Bahasa Indonesia,” in Proceedings of the International Conference on Infor </a:t>
            </a:r>
            <a:r>
              <a:rPr lang="en-IN" sz="1050" dirty="0" err="1"/>
              <a:t>matics</a:t>
            </a:r>
            <a:r>
              <a:rPr lang="en-IN" sz="1050" dirty="0"/>
              <a:t>, Jakarta, Indonesia, 2021, pp. 123–130.</a:t>
            </a:r>
          </a:p>
          <a:p>
            <a:pPr marL="342900" indent="-342900" algn="just">
              <a:buAutoNum type="arabicPeriod"/>
            </a:pPr>
            <a:r>
              <a:rPr lang="en-US" sz="1050" dirty="0"/>
              <a:t>J. Smith and L. Brown, ”Developing and Applying a Neural Network System for Text Plagiarism Detection in Higher Education,” Journal of Educational Technology, vol. 15, no. 3, pp. 45–58, 2022.</a:t>
            </a:r>
            <a:endParaRPr lang="en-IN" sz="1050" dirty="0"/>
          </a:p>
          <a:p>
            <a:pPr marL="342900" indent="-342900" algn="just">
              <a:buAutoNum type="arabicPeriod"/>
            </a:pPr>
            <a:r>
              <a:rPr lang="en-US" sz="1050" dirty="0"/>
              <a:t>S. Kumar and R. Patel, ”Utilization of NLP Techniques in Plagiarism Detection System through Semantic Analysis using Word2Vec and BERT,” in Proceedings of the IEEE Conference on NLP, Bangalore, India, 2023, pp. 89–96.</a:t>
            </a:r>
            <a:endParaRPr lang="en-IN" sz="1050" dirty="0"/>
          </a:p>
          <a:p>
            <a:pPr marL="342900" indent="-342900" algn="just">
              <a:buAutoNum type="arabicPeriod"/>
            </a:pPr>
            <a:r>
              <a:rPr lang="en-US" sz="1050" dirty="0"/>
              <a:t>H. Zhang and Y. Li, ”Research on Code Plagiarism Detection Based on Code Clone Detection Technologies,” in International Symposium on Software Engineering, Bei </a:t>
            </a:r>
            <a:r>
              <a:rPr lang="en-US" sz="1050" dirty="0" err="1"/>
              <a:t>jing</a:t>
            </a:r>
            <a:r>
              <a:rPr lang="en-US" sz="1050" dirty="0"/>
              <a:t>, China, 2020, pp. 210–218</a:t>
            </a:r>
            <a:endParaRPr lang="en-IN" sz="1050" dirty="0"/>
          </a:p>
          <a:p>
            <a:pPr marL="342900" indent="-342900" algn="just">
              <a:buAutoNum type="arabicPeriod"/>
            </a:pPr>
            <a:r>
              <a:rPr lang="en-US" sz="1050" dirty="0"/>
              <a:t>M. Ali and N. Khan, ”Program plagiarism detection with dynamic structure,” Soft ware: Practice and Experience, vol. 52, no. 4, pp. 567–579, 2021.</a:t>
            </a:r>
            <a:endParaRPr lang="en-IN" sz="1050" dirty="0"/>
          </a:p>
          <a:p>
            <a:pPr marL="342900" indent="-342900" algn="just">
              <a:buAutoNum type="arabicPeriod"/>
            </a:pPr>
            <a:r>
              <a:rPr lang="en-US" sz="1050" dirty="0"/>
              <a:t>P. Nguyen and T. Ho, ”Plagiarism detection in learning management system,” in Proceedings of the Asia-Pacific Educational Technology Conference, Hanoi, Vietnam, 2019, pp. 34–41</a:t>
            </a:r>
            <a:endParaRPr lang="en-IN" sz="1050" dirty="0"/>
          </a:p>
          <a:p>
            <a:pPr marL="342900" indent="-342900" algn="just">
              <a:buAutoNum type="arabicPeriod"/>
            </a:pPr>
            <a:r>
              <a:rPr lang="en-US" sz="1050" dirty="0"/>
              <a:t>R. Gupta and S. Sharma, ”Design and Implementation of Code Plagiarism Detection System,” International Journal of Computer Applications, vol. 180, no. 12, pp. 15–22, 2022</a:t>
            </a:r>
            <a:endParaRPr lang="en-IN" sz="1050" dirty="0"/>
          </a:p>
          <a:p>
            <a:pPr marL="342900" indent="-342900" algn="just">
              <a:buAutoNum type="arabicPeriod"/>
            </a:pPr>
            <a:r>
              <a:rPr lang="en-US" sz="1050" dirty="0"/>
              <a:t>L. Chen and Q. Wang, ”Design and Implementation of a Self-Built Plagiarism </a:t>
            </a:r>
            <a:r>
              <a:rPr lang="en-US" sz="1050" dirty="0" err="1"/>
              <a:t>Detec</a:t>
            </a:r>
            <a:r>
              <a:rPr lang="en-US" sz="1050" dirty="0"/>
              <a:t> </a:t>
            </a:r>
            <a:r>
              <a:rPr lang="en-US" sz="1050" dirty="0" err="1"/>
              <a:t>tion</a:t>
            </a:r>
            <a:r>
              <a:rPr lang="en-US" sz="1050" dirty="0"/>
              <a:t> System for University Academic Integrity,” in Proceedings of the Global Academic Integrity Conference, Singapore, 2020, pp. 78–85</a:t>
            </a:r>
            <a:endParaRPr lang="en-IN" sz="1050" dirty="0"/>
          </a:p>
          <a:p>
            <a:pPr marL="342900" indent="-342900" algn="just">
              <a:buAutoNum type="arabicPeriod"/>
            </a:pPr>
            <a:r>
              <a:rPr lang="en-US" sz="1050" dirty="0"/>
              <a:t>T. Tran and D. Le, ”Data warehouse designing for Vietnamese textual document based plagiarism detection system,” Journal of Data Science, vol. 10, no. 2, pp. 101–115, 2021</a:t>
            </a:r>
            <a:endParaRPr lang="en-IN" sz="1050" dirty="0"/>
          </a:p>
          <a:p>
            <a:pPr marL="342900" indent="-342900" algn="just">
              <a:buAutoNum type="arabicPeriod"/>
            </a:pPr>
            <a:r>
              <a:rPr lang="en-US" sz="1050" dirty="0"/>
              <a:t>K. Jones and M. Taylor, ”Automated Plagiarism Detection in Moodle,” in Proceed </a:t>
            </a:r>
            <a:r>
              <a:rPr lang="en-US" sz="1050" dirty="0" err="1"/>
              <a:t>ings</a:t>
            </a:r>
            <a:r>
              <a:rPr lang="en-US" sz="1050" dirty="0"/>
              <a:t> of the Learning Management Systems Conference, London, UK, 2018, pp. 56–63</a:t>
            </a:r>
            <a:endParaRPr lang="en-IN" sz="1050" dirty="0"/>
          </a:p>
          <a:p>
            <a:pPr marL="342900" indent="-342900" algn="just">
              <a:buAutoNum type="arabicPeriod"/>
            </a:pPr>
            <a:r>
              <a:rPr lang="en-IN" sz="1050" dirty="0"/>
              <a:t>D. Wijaya and E. Santoso, ”Auto Clustering Source Code To Detect Plagiarism Of Student Programming Assignments in Java Programming Language,” in Proceedings of the IEEE Conference on Computer Science Education, Surabaya, Indonesia, 2022, pp. 145–152</a:t>
            </a:r>
          </a:p>
          <a:p>
            <a:pPr marL="342900" indent="-342900" algn="just">
              <a:buAutoNum type="arabicPeriod"/>
            </a:pPr>
            <a:r>
              <a:rPr lang="en-US" sz="1050" dirty="0"/>
              <a:t>F. Ahmad and Z. Liu, ”A Plagiarism Detection Architecture Based on OpenStack Services,” International Journal of Cloud Computing, vol. 9, no. 3, pp. 89–102, 2023</a:t>
            </a:r>
          </a:p>
          <a:p>
            <a:pPr marL="342900" indent="-342900" algn="just">
              <a:buAutoNum type="arabicPeriod"/>
            </a:pPr>
            <a:r>
              <a:rPr lang="en-US" sz="1050" dirty="0"/>
              <a:t>Gormley, C., &amp; Tong, Z. (2015). Elasticsearch: The Definitive Guide. O’Reilly Me </a:t>
            </a:r>
            <a:r>
              <a:rPr lang="en-US" sz="1050" dirty="0" err="1"/>
              <a:t>dia</a:t>
            </a:r>
            <a:r>
              <a:rPr lang="en-US" sz="1050"/>
              <a:t>, Inc</a:t>
            </a:r>
            <a:endParaRPr lang="en-US" sz="1050" dirty="0"/>
          </a:p>
        </p:txBody>
      </p:sp>
    </p:spTree>
    <p:extLst>
      <p:ext uri="{BB962C8B-B14F-4D97-AF65-F5344CB8AC3E}">
        <p14:creationId xmlns:p14="http://schemas.microsoft.com/office/powerpoint/2010/main" val="3436924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D82EA-6098-704F-AD4D-D13A499C492D}"/>
              </a:ext>
            </a:extLst>
          </p:cNvPr>
          <p:cNvSpPr txBox="1"/>
          <p:nvPr/>
        </p:nvSpPr>
        <p:spPr>
          <a:xfrm>
            <a:off x="1895294" y="3601496"/>
            <a:ext cx="8401412" cy="1200329"/>
          </a:xfrm>
          <a:prstGeom prst="rect">
            <a:avLst/>
          </a:prstGeom>
          <a:noFill/>
        </p:spPr>
        <p:txBody>
          <a:bodyPr wrap="square" rtlCol="0">
            <a:spAutoFit/>
          </a:bodyPr>
          <a:lstStyle/>
          <a:p>
            <a:pPr algn="ctr"/>
            <a:r>
              <a:rPr lang="en-US" sz="7200" b="1" dirty="0">
                <a:solidFill>
                  <a:srgbClr val="46B0FA"/>
                </a:solidFill>
                <a:latin typeface="Arial" panose="020B0604020202020204" pitchFamily="34" charset="0"/>
                <a:cs typeface="Arial" panose="020B0604020202020204" pitchFamily="34" charset="0"/>
              </a:rPr>
              <a:t>Thank You</a:t>
            </a:r>
            <a:endParaRPr lang="en-IN" sz="7200" b="1" dirty="0">
              <a:solidFill>
                <a:srgbClr val="46B0FA"/>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7FBB1AB-6227-0A49-9677-D759BB97E908}"/>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icture containing text, clipart&#10;&#10;Description automatically generated">
            <a:extLst>
              <a:ext uri="{FF2B5EF4-FFF2-40B4-BE49-F238E27FC236}">
                <a16:creationId xmlns:a16="http://schemas.microsoft.com/office/drawing/2014/main" id="{B3B91EF5-66BF-4A12-80C1-98869846E0D6}"/>
              </a:ext>
            </a:extLst>
          </p:cNvPr>
          <p:cNvPicPr>
            <a:picLocks noChangeAspect="1"/>
          </p:cNvPicPr>
          <p:nvPr/>
        </p:nvPicPr>
        <p:blipFill>
          <a:blip r:embed="rId2"/>
          <a:stretch>
            <a:fillRect/>
          </a:stretch>
        </p:blipFill>
        <p:spPr>
          <a:xfrm>
            <a:off x="3992880" y="1709987"/>
            <a:ext cx="4206240" cy="1806854"/>
          </a:xfrm>
          <a:prstGeom prst="rect">
            <a:avLst/>
          </a:prstGeom>
        </p:spPr>
      </p:pic>
    </p:spTree>
    <p:extLst>
      <p:ext uri="{BB962C8B-B14F-4D97-AF65-F5344CB8AC3E}">
        <p14:creationId xmlns:p14="http://schemas.microsoft.com/office/powerpoint/2010/main" val="3579348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15017</TotalTime>
  <Words>1632</Words>
  <Application>Microsoft Office PowerPoint</Application>
  <PresentationFormat>Widescreen</PresentationFormat>
  <Paragraphs>84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__GeistSans_3a0388</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Stuti Gandhi</dc:creator>
  <cp:lastModifiedBy>Sagnik Roy</cp:lastModifiedBy>
  <cp:revision>602</cp:revision>
  <dcterms:created xsi:type="dcterms:W3CDTF">2021-05-06T09:42:21Z</dcterms:created>
  <dcterms:modified xsi:type="dcterms:W3CDTF">2025-05-01T01:41:51Z</dcterms:modified>
</cp:coreProperties>
</file>